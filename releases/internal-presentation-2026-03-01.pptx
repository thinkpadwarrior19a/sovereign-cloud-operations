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Sovereign Cloud Operations: Internal Summary Presentation</a:t>
            </a:r>
          </a:p>
        </p:txBody>
      </p:sp>
      <p:sp>
        <p:nvSpPr>
          <p:cNvPr id="3" name="Content Placeholder 2"/>
          <p:cNvSpPr>
            <a:spLocks noGrp="1"/>
          </p:cNvSpPr>
          <p:nvPr>
            <p:ph idx="1"/>
          </p:nvPr>
        </p:nvSpPr>
        <p:spPr/>
        <p:txBody>
          <a:bodyPr/>
          <a:lstStyle/>
          <a:p>
            <a:pPr lvl="0" indent="0" marL="0">
              <a:buNone/>
            </a:pPr>
            <a:r>
              <a:rPr i="1"/>
              <a:t>10-Slide Executive Briefing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 — Title Slide</a:t>
            </a:r>
          </a:p>
          <a:p>
            <a:pPr lvl="0" indent="0" marL="0">
              <a:spcBef>
                <a:spcPts val="3000"/>
              </a:spcBef>
              <a:buNone/>
            </a:pPr>
            <a:r>
              <a:rPr b="1"/>
              <a:t>Sovereign Cloud Operations</a:t>
            </a:r>
          </a:p>
          <a:p>
            <a:pPr lvl="0" indent="0" marL="0">
              <a:spcBef>
                <a:spcPts val="3000"/>
              </a:spcBef>
              <a:buNone/>
            </a:pPr>
            <a:r>
              <a:rPr b="1"/>
              <a:t>Agentic AI, Observability, and Automation for the Fully Sovereign, Multi-Cloud Enterprise</a:t>
            </a:r>
          </a:p>
          <a:p>
            <a:pPr lvl="0" indent="0" marL="0">
              <a:buNone/>
            </a:pPr>
            <a:r>
              <a:rPr i="1"/>
              <a:t>Based on the book by Alan Hamilton</a:t>
            </a:r>
          </a:p>
          <a:p>
            <a:pPr lvl="0" indent="0" marL="0">
              <a:buNone/>
            </a:pPr>
            <a:r>
              <a:rPr b="1"/>
              <a:t>Key Points:</a:t>
            </a:r>
          </a:p>
          <a:p>
            <a:pPr lvl="0"/>
            <a:r>
              <a:rPr/>
              <a:t>300,000+ word technical reference for sovereign cloud operations</a:t>
            </a:r>
          </a:p>
          <a:p>
            <a:pPr lvl="0"/>
            <a:r>
              <a:rPr/>
              <a:t>Addresses the operational gap between multi-cloud architectural capability and reliable, compliant execution</a:t>
            </a:r>
          </a:p>
          <a:p>
            <a:pPr lvl="0"/>
            <a:r>
              <a:rPr/>
              <a:t>Positions IBM as the cross-cloud control and intelligence layer spanning hyperscaler estates</a:t>
            </a:r>
          </a:p>
          <a:p>
            <a:pPr lvl="0" indent="0" marL="0">
              <a:buNone/>
            </a:pPr>
            <a:r>
              <a:rPr b="1"/>
              <a:t>Speaker Notes:</a:t>
            </a:r>
          </a:p>
          <a:p>
            <a:pPr lvl="0" indent="0" marL="0">
              <a:buNone/>
            </a:pPr>
            <a:r>
              <a:rPr/>
              <a:t>This presentation summarises the key arguments and IBM positioning from </a:t>
            </a:r>
            <a:r>
              <a:rPr i="1"/>
              <a:t>Sovereign Cloud Operations</a:t>
            </a:r>
            <a:r>
              <a:rPr/>
              <a:t>, a comprehensive technical reference aimed at senior architects, CIOs, CTOs, and compliance professionals in regulated enterprises. The book is structured around a central proposition: the operating model governing multi-cloud estates has not kept pace with the architecture, and the only sustainable response is a sovereign operations control plane built on IBM technology. The target audience for this briefing is IBM leadership, sellers, and technical specialists who need to understand the market opportunity and IBM’s differentiated position.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 — The Problem Statement</a:t>
            </a:r>
          </a:p>
          <a:p>
            <a:pPr lvl="0" indent="0" marL="0">
              <a:spcBef>
                <a:spcPts val="3000"/>
              </a:spcBef>
              <a:buNone/>
            </a:pPr>
            <a:r>
              <a:rPr b="1"/>
              <a:t>The Operational Gap Is Widening</a:t>
            </a:r>
          </a:p>
          <a:p>
            <a:pPr lvl="0" indent="0" marL="0">
              <a:buNone/>
            </a:pPr>
            <a:r>
              <a:rPr b="1"/>
              <a:t>Key Points:</a:t>
            </a:r>
          </a:p>
          <a:p>
            <a:pPr lvl="0"/>
            <a:r>
              <a:rPr/>
              <a:t>Multi-cloud estates now span 3–4 public clouds, on-premises data centres, and expanding edge — but operating models remain dashboard-centric and siloed</a:t>
            </a:r>
          </a:p>
          <a:p>
            <a:pPr lvl="0"/>
            <a:r>
              <a:rPr/>
              <a:t>Alert volumes exceed human cognitive capacity: hundreds or thousands of alerts per incident, most redundant</a:t>
            </a:r>
          </a:p>
          <a:p>
            <a:pPr lvl="0"/>
            <a:r>
              <a:rPr/>
              <a:t>Engineering toil consumes up to 60% of team capacity — £2.88M/year for a 40-engineer team spent on work that delivers no lasting value</a:t>
            </a:r>
          </a:p>
          <a:p>
            <a:pPr lvl="0"/>
            <a:r>
              <a:rPr/>
              <a:t>True MTTR is 30–50% higher than reported figures when measured from first business impact to full restoration</a:t>
            </a:r>
          </a:p>
          <a:p>
            <a:pPr lvl="0"/>
            <a:r>
              <a:rPr/>
              <a:t>Three regulations have converted operational sovereignty from aspiration to legal obligation: DORA, NIS2, and the EU AI Act</a:t>
            </a:r>
          </a:p>
          <a:p>
            <a:pPr lvl="0" indent="0" marL="0">
              <a:buNone/>
            </a:pPr>
            <a:r>
              <a:rPr b="1"/>
              <a:t>Speaker Notes:</a:t>
            </a:r>
          </a:p>
          <a:p>
            <a:pPr lvl="0" indent="0" marL="0">
              <a:buNone/>
            </a:pPr>
            <a:r>
              <a:rPr/>
              <a:t>The book opens with a diagnosis that every enterprise CTO recognises: the gap between what the architecture can do and what the organisation can reliably, safely, and compliantly operate is widening. Dashboard-centric operations — characterised by fragmented monitoring tools, ticket-based change management, periodic compliance reviews, and siloed toolchains — have reached structural limits. The regulatory environment has made this an urgent business problem, not merely a technical one. DORA fines reach 1% of daily global turnover per day. NIS2 fines reach €10 million or 2% of turnover. EU AI Act fines reach €35 million or 7% of turnover for prohibited practices. For a financial services firm with £10B annual revenue, DORA exposure alone is £274k per day of non-compliance.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3 — Operational Sovereignty Defined</a:t>
            </a:r>
          </a:p>
          <a:p>
            <a:pPr lvl="0" indent="0" marL="0">
              <a:spcBef>
                <a:spcPts val="3000"/>
              </a:spcBef>
              <a:buNone/>
            </a:pPr>
            <a:r>
              <a:rPr b="1"/>
              <a:t>Beyond Infrastructure Sovereignty</a:t>
            </a:r>
          </a:p>
          <a:p>
            <a:pPr lvl="0" indent="0" marL="0">
              <a:buNone/>
            </a:pPr>
            <a:r>
              <a:rPr b="1"/>
              <a:t>Key Points:</a:t>
            </a:r>
          </a:p>
          <a:p>
            <a:pPr lvl="0"/>
            <a:r>
              <a:rPr/>
              <a:t>Infrastructure sovereignty (where data resides) is necessary but insufficient</a:t>
            </a:r>
          </a:p>
          <a:p>
            <a:pPr lvl="0"/>
            <a:r>
              <a:rPr i="1"/>
              <a:t>Operational sovereignty</a:t>
            </a:r>
            <a:r>
              <a:rPr/>
              <a:t> answers: who can act on which systems, from which jurisdictions, under which policies, and how those actions are governed</a:t>
            </a:r>
          </a:p>
          <a:p>
            <a:pPr lvl="0"/>
            <a:r>
              <a:rPr/>
              <a:t>The </a:t>
            </a:r>
            <a:r>
              <a:rPr i="1"/>
              <a:t>sovereign zone</a:t>
            </a:r>
            <a:r>
              <a:rPr/>
              <a:t> is the fundamental unit: a bounded set of compute, network, and storage defined by jurisdiction, permitted operators, data classification, and key management boundary</a:t>
            </a:r>
          </a:p>
          <a:p>
            <a:pPr lvl="0"/>
            <a:r>
              <a:rPr/>
              <a:t>Three zone types: primary sovereign (full regulatory compliance), auxiliary (complementary workloads), edge (proximity-driven)</a:t>
            </a:r>
          </a:p>
          <a:p>
            <a:pPr lvl="0"/>
            <a:r>
              <a:rPr/>
              <a:t>Zero-copy integration: accessing data at source rather than replicating across silos — reduces unnecessary data proliferation by 80–90%</a:t>
            </a:r>
          </a:p>
          <a:p>
            <a:pPr lvl="0" indent="0" marL="0">
              <a:buNone/>
            </a:pPr>
            <a:r>
              <a:rPr b="1"/>
              <a:t>Speaker Notes:</a:t>
            </a:r>
          </a:p>
          <a:p>
            <a:pPr lvl="0" indent="0" marL="0">
              <a:buNone/>
            </a:pPr>
            <a:r>
              <a:rPr/>
              <a:t>The book introduces a critical distinction that resonates strongly with regulated enterprises. Most cloud sovereignty conversations focus on data residency — where data physically resides. The book argues this is necessary but insufficient. Operational sovereignty — the demonstrable ability to maintain continuous, auditable control over the entire operational lifecycle — is what regulators actually demand. The sovereign zone concept provides the architectural unit for this: every workload is placed within a zone that defines not just where it runs but who can touch it, what policies govern it, and how actions within it are recorded. Zero-copy integration is the data architecture that makes sovereign zones practical: instead of copying data between zones (creating compliance liability with every copy), signals and queries flow while data stays in place.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4 — The Four-Plane Reference Model</a:t>
            </a:r>
          </a:p>
          <a:p>
            <a:pPr lvl="0" indent="0" marL="0">
              <a:spcBef>
                <a:spcPts val="3000"/>
              </a:spcBef>
              <a:buNone/>
            </a:pPr>
            <a:r>
              <a:rPr b="1"/>
              <a:t>Architectural Foundation</a:t>
            </a:r>
          </a:p>
          <a:p>
            <a:pPr lvl="0" indent="0" marL="0">
              <a:buNone/>
            </a:pPr>
            <a:r>
              <a:rPr b="1"/>
              <a:t>Key Points:</a:t>
            </a:r>
          </a:p>
          <a:p>
            <a:pPr lvl="0"/>
            <a:r>
              <a:rPr b="1"/>
              <a:t>Observability Plane:</a:t>
            </a:r>
            <a:r>
              <a:rPr/>
              <a:t> Continuously updated, topology-aware model of the entire estate (Instana, Turbonomic, OpenTelemetry)</a:t>
            </a:r>
          </a:p>
          <a:p>
            <a:pPr lvl="0"/>
            <a:r>
              <a:rPr b="1"/>
              <a:t>Automation &amp; Orchestration Plane:</a:t>
            </a:r>
            <a:r>
              <a:rPr/>
              <a:t> Deterministic execution with full audit trails (Ansible Automation Platform, OpenShift GitOps, Cloud Satellite)</a:t>
            </a:r>
          </a:p>
          <a:p>
            <a:pPr lvl="0"/>
            <a:r>
              <a:rPr b="1"/>
              <a:t>Agentic Intelligence Plane:</a:t>
            </a:r>
            <a:r>
              <a:rPr/>
              <a:t> AI agents that reason about the operational estate (Concert, watsonx Orchestrate, watsonx.ai, Granite models)</a:t>
            </a:r>
          </a:p>
          <a:p>
            <a:pPr lvl="0"/>
            <a:r>
              <a:rPr b="1"/>
              <a:t>Governance &amp; Audit Plane:</a:t>
            </a:r>
            <a:r>
              <a:rPr/>
              <a:t> Continuous policy enforcement and sovereign AI records (watsonx.governance, OpenPages, Guardium, OPA)</a:t>
            </a:r>
          </a:p>
          <a:p>
            <a:pPr lvl="0"/>
            <a:r>
              <a:rPr/>
              <a:t>Built on open standards: OpenTelemetry, CloudEvents, OpenLineage, OPA, Kubernetes, Git — addressing meta-lock-in concerns</a:t>
            </a:r>
          </a:p>
          <a:p>
            <a:pPr lvl="0" indent="0" marL="0">
              <a:buNone/>
            </a:pPr>
            <a:r>
              <a:rPr b="1"/>
              <a:t>Speaker Notes:</a:t>
            </a:r>
          </a:p>
          <a:p>
            <a:pPr lvl="0" indent="0" marL="0">
              <a:buNone/>
            </a:pPr>
            <a:r>
              <a:rPr/>
              <a:t>This is the architectural heart of the book and the centrepiece of IBM’s positioning. The four-plane model gives every operational concern a clear architectural home and maps directly to IBM’s product portfolio. The model is deliberately built on open standards — OpenTelemetry for telemetry, CloudEvents for events, OpenLineage for lineage, OPA for policy, Kubernetes for orchestration, Git for configuration — which addresses the most sophisticated objection customers raise: that adopting an IBM sovereign stack merely substitutes vendor dependency. The answer is that each component is substitutable because the interfaces are standardised. IBM’s value is in the integration, intelligence, and governance that ties the planes together — not in proprietary lock-in. The book positions this as strategic optionality: the sovereign operations control plane creates provider independence rather than introducing dependency.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5 — Concert as the Operational Brain</a:t>
            </a:r>
          </a:p>
          <a:p>
            <a:pPr lvl="0" indent="0" marL="0">
              <a:spcBef>
                <a:spcPts val="3000"/>
              </a:spcBef>
              <a:buNone/>
            </a:pPr>
            <a:r>
              <a:rPr b="1"/>
              <a:t>The Intelligence Layer No Hyperscaler Can Build</a:t>
            </a:r>
          </a:p>
          <a:p>
            <a:pPr lvl="0" indent="0" marL="0">
              <a:buNone/>
            </a:pPr>
            <a:r>
              <a:rPr b="1"/>
              <a:t>Key Points:</a:t>
            </a:r>
          </a:p>
          <a:p>
            <a:pPr lvl="0"/>
            <a:r>
              <a:rPr/>
              <a:t>Concert maintains a continuously updated dependency graph across all cloud providers — the entity-relationship model is the primary unit of analysis, not the alert stream</a:t>
            </a:r>
          </a:p>
          <a:p>
            <a:pPr lvl="0"/>
            <a:r>
              <a:rPr/>
              <a:t>Correlates signals using topology proximity, temporal proximity, and semantic similarity — replaces alert-by-alert investigation with situation-level engagement</a:t>
            </a:r>
          </a:p>
          <a:p>
            <a:pPr lvl="0"/>
            <a:r>
              <a:rPr/>
              <a:t>Change risk scoring (0–100 composite) enables automated approval of low-risk changes while ensuring high-risk changes receive human review</a:t>
            </a:r>
          </a:p>
          <a:p>
            <a:pPr lvl="0"/>
            <a:r>
              <a:rPr/>
              <a:t>Learning from operator feedback: accept/modify/override decisions improve recommendations over time, compounding ROI</a:t>
            </a:r>
          </a:p>
          <a:p>
            <a:pPr lvl="0"/>
            <a:r>
              <a:rPr/>
              <a:t>SaaS and on-premises deployment options for sovereign zone requirements</a:t>
            </a:r>
          </a:p>
          <a:p>
            <a:pPr lvl="0"/>
            <a:r>
              <a:rPr/>
              <a:t>Integrates with ServiceNow, Datadog, Splunk, Dynatrace, and hyperscaler-native monitoring through OpenTelemetry</a:t>
            </a:r>
          </a:p>
          <a:p>
            <a:pPr lvl="0" indent="0" marL="0">
              <a:buNone/>
            </a:pPr>
            <a:r>
              <a:rPr b="1"/>
              <a:t>Speaker Notes:</a:t>
            </a:r>
          </a:p>
          <a:p>
            <a:pPr lvl="0" indent="0" marL="0">
              <a:buNone/>
            </a:pPr>
            <a:r>
              <a:rPr/>
              <a:t>Concert’s differentiation is topology-aware intelligence across clouds. No hyperscaler has an incentive to build a tool that makes their competitors’ platforms equally visible and manageable — this is IBM’s structural advantage. The book positions Concert as the “operational brain” that transforms fragmented alerts into prioritised, evidence-backed recommendations. The dependency graph is the critical asset: when an incident occurs, Concert identifies affected business services, determines probable cause through graph-based reasoning, recommends specific actions prioritised by urgency, confidence, and impact, and records the full reasoning chain. The change risk scoring capability is particularly compelling for regulated enterprises: it doesn’t slow change but makes risk visible, enabling automated approval of routine changes (below 30 on the 0–100 scale) while preserving human CAB review for genuinely high-risk changes (above 65). The on-premises deployment option is essential for sovereign customers who cannot send operational metadata to external SaaS platforms.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 Agentic Operations and watsonx Orchestrate</a:t>
            </a:r>
          </a:p>
          <a:p>
            <a:pPr lvl="0" indent="0" marL="0">
              <a:spcBef>
                <a:spcPts val="3000"/>
              </a:spcBef>
              <a:buNone/>
            </a:pPr>
            <a:r>
              <a:rPr b="1"/>
              <a:t>From Knowing to Doing</a:t>
            </a:r>
          </a:p>
          <a:p>
            <a:pPr lvl="0" indent="0" marL="0">
              <a:buNone/>
            </a:pPr>
            <a:r>
              <a:rPr b="1"/>
              <a:t>Key Points:</a:t>
            </a:r>
          </a:p>
          <a:p>
            <a:pPr lvl="0"/>
            <a:r>
              <a:rPr/>
              <a:t>Orchestrate bridges the gap between Concert’s recommendations and multi-tool execution — the conversation becomes the audit trail</a:t>
            </a:r>
          </a:p>
          <a:p>
            <a:pPr lvl="0"/>
            <a:r>
              <a:rPr/>
              <a:t>Demonstrated 4–10x improvement: certificate renewal from 45–120 minutes manually to 11 minutes via Orchestrate</a:t>
            </a:r>
          </a:p>
          <a:p>
            <a:pPr lvl="0"/>
            <a:r>
              <a:rPr/>
              <a:t>Five-layer architecture: language model, tool registry, workflow engine, memory, governance integration</a:t>
            </a:r>
          </a:p>
          <a:p>
            <a:pPr lvl="0"/>
            <a:r>
              <a:rPr/>
              <a:t>Multi-agent orchestration with five roles: planner, executor, reviewer, guardrail, synthesiser</a:t>
            </a:r>
          </a:p>
          <a:p>
            <a:pPr lvl="0"/>
            <a:r>
              <a:rPr/>
              <a:t>Priority hierarchy resolves conflicts: safety &gt; human-initiated &gt; sovereignty enforcement &gt; optimisation</a:t>
            </a:r>
          </a:p>
          <a:p>
            <a:pPr lvl="0"/>
            <a:r>
              <a:rPr/>
              <a:t>Progressive autonomy model: trust earned through quantitative criteria (&gt;95% diagnostic accuracy, &gt;98% remediation success, zero consequential errors over 30-day window)</a:t>
            </a:r>
          </a:p>
          <a:p>
            <a:pPr lvl="0"/>
            <a:r>
              <a:rPr/>
              <a:t>EU AI Act compliance is a first-class architectural concern: logging, human oversight, and ongoing monitoring</a:t>
            </a:r>
          </a:p>
          <a:p>
            <a:pPr lvl="0" indent="0" marL="0">
              <a:buNone/>
            </a:pPr>
            <a:r>
              <a:rPr b="1"/>
              <a:t>Speaker Notes:</a:t>
            </a:r>
          </a:p>
          <a:p>
            <a:pPr lvl="0" indent="0" marL="0">
              <a:buNone/>
            </a:pPr>
            <a:r>
              <a:rPr/>
              <a:t>The book makes a compelling argument that the gap between knowing and doing is a friction problem, not a signal problem. Once an operator has a recommendation, executing it requires navigating multiple tools with different interfaces and authentication models. Orchestrate resolves this with a single conversational interface. The multi-agent orchestration chapter addresses the reality that no single AI agent can handle the full breadth of enterprise operations — specialised agents collaborate through structured protocols with mandatory attribution logging. The progressive autonomy model is critical for regulated environments: rather than deploying agents at high autonomy levels, organisations start with observe-only, progress to recommend-with-tracking, then auto-execute-with-notification, and finally autonomous-within-bounds — with quantitative promotion criteria at each stage. This is a governance-compatible path that regulators recognise: they don’t prohibit autonomous remediation but require it to be documented, explainable, auditable, and governed. The chapter explicitly addresses the EU AI Act’s requirements, positioning Orchestrate’s conversation logging as a compliance mechanism, not just a convenience feature.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7 — AI Governance and the Sovereign AI Record</a:t>
            </a:r>
          </a:p>
          <a:p>
            <a:pPr lvl="0" indent="0" marL="0">
              <a:spcBef>
                <a:spcPts val="3000"/>
              </a:spcBef>
              <a:buNone/>
            </a:pPr>
            <a:r>
              <a:rPr b="1"/>
              <a:t>Demonstrable Accountability for Every AI Decision</a:t>
            </a:r>
          </a:p>
          <a:p>
            <a:pPr lvl="0" indent="0" marL="0">
              <a:buNone/>
            </a:pPr>
            <a:r>
              <a:rPr b="1"/>
              <a:t>Key Points:</a:t>
            </a:r>
          </a:p>
          <a:p>
            <a:pPr lvl="0"/>
            <a:r>
              <a:rPr/>
              <a:t>Operational AI agents frequently qualify as high-risk systems under the EU AI Act (Annex III, Category 1)</a:t>
            </a:r>
          </a:p>
          <a:p>
            <a:pPr lvl="0"/>
            <a:r>
              <a:rPr/>
              <a:t>watsonx.governance manages the full model lifecycle: development, validation, deployment, monitoring, review, retirement</a:t>
            </a:r>
          </a:p>
          <a:p>
            <a:pPr lvl="0"/>
            <a:r>
              <a:rPr/>
              <a:t>The </a:t>
            </a:r>
            <a:r>
              <a:rPr i="1"/>
              <a:t>sovereign AI record</a:t>
            </a:r>
            <a:r>
              <a:rPr/>
              <a:t>: durable, tamper-evident log of every AI agent action scoped to a sovereign zone</a:t>
            </a:r>
          </a:p>
          <a:p>
            <a:pPr lvl="0"/>
            <a:r>
              <a:rPr/>
              <a:t>Six risk categories with dedicated controls: hallucination, prompt injection, scope creep, data residency violations, knowledge base corruption, model drift</a:t>
            </a:r>
          </a:p>
          <a:p>
            <a:pPr lvl="0"/>
            <a:r>
              <a:rPr/>
              <a:t>Three-tier kill switch system (global, zone, agent) for rapid suspension of agent activity</a:t>
            </a:r>
          </a:p>
          <a:p>
            <a:pPr lvl="0"/>
            <a:r>
              <a:rPr/>
              <a:t>Structured Decision Records capture full reasoning chains: triggering signal, input provenance, alternatives considered, policy evaluations, approvals, actions taken, observed outcomes</a:t>
            </a:r>
          </a:p>
          <a:p>
            <a:pPr lvl="0" indent="0" marL="0">
              <a:buNone/>
            </a:pPr>
            <a:r>
              <a:rPr b="1"/>
              <a:t>Speaker Notes:</a:t>
            </a:r>
          </a:p>
          <a:p>
            <a:pPr lvl="0" indent="0" marL="0">
              <a:buNone/>
            </a:pPr>
            <a:r>
              <a:rPr/>
              <a:t>AI governance is where IBM’s integrated portfolio delivers the strongest differentiation. The book argues that the failure modes of agentic systems — hallucination, prompt injection, scope creep, cross-zone data leakage — carry consequences qualitatively different from traditional monitoring failures. watsonx.governance provides the lifecycle management, drift detection, and fairness monitoring that no point AIOps tool offers. The sovereign AI record is a novel concept introduced in the book: a durable, tamper-evident log of every AI agent action, scoped to a sovereign zone, that provides the audit trail regulators require. The Structured Decision Record captures the full reasoning chain in a machine-readable format, enabling post-incident reconstruction and counterfactual analysis. This is not available from any competitor — Datadog, Splunk, PagerDuty, and ServiceNow do not have integrated AI governance frameworks. IBM Granite models under Apache 2.0 licence provide open-weight, sovereign-deployable foundation models with documented training data provenance, addressing IP and licence compliance concerns that proprietary models cannot.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8 — The Operating Model Shift</a:t>
            </a:r>
          </a:p>
          <a:p>
            <a:pPr lvl="0" indent="0" marL="0">
              <a:spcBef>
                <a:spcPts val="3000"/>
              </a:spcBef>
              <a:buNone/>
            </a:pPr>
            <a:r>
              <a:rPr b="1"/>
              <a:t>Technology Alone Is Insufficient</a:t>
            </a:r>
          </a:p>
          <a:p>
            <a:pPr lvl="0" indent="0" marL="0">
              <a:buNone/>
            </a:pPr>
            <a:r>
              <a:rPr b="1"/>
              <a:t>Key Points:</a:t>
            </a:r>
          </a:p>
          <a:p>
            <a:pPr lvl="0"/>
            <a:r>
              <a:rPr/>
              <a:t>New roles required: sovereign zone owners, AI agent supervisors, policy engineers, platform engineers</a:t>
            </a:r>
          </a:p>
          <a:p>
            <a:pPr lvl="0"/>
            <a:r>
              <a:rPr/>
              <a:t>Three-tier decision framework: Tier 1 (fully automated within bounds), Tier 2 (agent-proposed, human-approved), Tier 3 (committee-reviewed)</a:t>
            </a:r>
          </a:p>
          <a:p>
            <a:pPr lvl="0"/>
            <a:r>
              <a:rPr/>
              <a:t>The T-shaped engineer: deep expertise in one domain, broad working knowledge across infrastructure, security, compliance, data, and AI</a:t>
            </a:r>
          </a:p>
          <a:p>
            <a:pPr lvl="0"/>
            <a:r>
              <a:rPr/>
              <a:t>On-call interrupt frequency drops 50–70% with mature agent-assisted first response</a:t>
            </a:r>
          </a:p>
          <a:p>
            <a:pPr lvl="0"/>
            <a:r>
              <a:rPr/>
              <a:t>The “re-skilling wall” for hyperscaler-native teams: a phased bridge model addresses career portability concerns and the IBM legacy perception</a:t>
            </a:r>
          </a:p>
          <a:p>
            <a:pPr lvl="0"/>
            <a:r>
              <a:rPr/>
              <a:t>Skills gap cannot be closed by hiring alone — the required skill combinations barely exist in the market</a:t>
            </a:r>
          </a:p>
          <a:p>
            <a:pPr lvl="0" indent="0" marL="0">
              <a:buNone/>
            </a:pPr>
            <a:r>
              <a:rPr b="1"/>
              <a:t>Speaker Notes:</a:t>
            </a:r>
          </a:p>
          <a:p>
            <a:pPr lvl="0" indent="0" marL="0">
              <a:buNone/>
            </a:pPr>
            <a:r>
              <a:rPr/>
              <a:t>The book’s treatment of operating model and human factors is unusually honest for a technology reference. It argues that without corresponding organisational transformation, sophisticated platforms are operated like traditional ITIL service desks, wasting their potential. The chapter on skills and culture directly confronts the IBM legacy brand perception among engineers under forty, arguing that the actual technology — Concert, Orchestrate, Instana, watsonx — is built on Kubernetes, containers, REST APIs, and Python, and that this must be demonstrated through hands-on experience rather than slide decks. The phased bridge model for hyperscaler-native teams is particularly practical: start with read-only cross-cloud visibility (no disruption), progress to agent-assisted recommendations in existing communication channels, then collaborative workflow authoring, and finally native agentic framework as primary interface. This is important for sellers because the skills and culture conversation is often the decision-maker’s deepest concern — they know they can buy technology, but they worry about whether their teams will adopt it.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Slide 9 — The Maturity Model and Case Study Evidence</a:t>
            </a:r>
          </a:p>
          <a:p>
            <a:pPr lvl="0" indent="0" marL="0">
              <a:spcBef>
                <a:spcPts val="3000"/>
              </a:spcBef>
              <a:buNone/>
            </a:pPr>
            <a:r>
              <a:rPr b="1"/>
              <a:t>Measured Progress and Demonstrated Outcomes</a:t>
            </a:r>
          </a:p>
          <a:p>
            <a:pPr lvl="0" indent="0" marL="0">
              <a:buNone/>
            </a:pPr>
            <a:r>
              <a:rPr b="1"/>
              <a:t>Key Points — Maturity Model:</a:t>
            </a:r>
          </a:p>
          <a:p>
            <a:pPr lvl="0"/>
            <a:r>
              <a:rPr/>
              <a:t>Five levels: Ad-hoc, Managed, Defined, Measured, Optimised</a:t>
            </a:r>
          </a:p>
          <a:p>
            <a:pPr lvl="0"/>
            <a:r>
              <a:rPr/>
              <a:t>Eight dimensions: infrastructure codification, observability depth, automation coverage, sovereignty enforcement, agent adoption, governance maturity, cultural readiness, knowledge management</a:t>
            </a:r>
          </a:p>
          <a:p>
            <a:pPr lvl="0"/>
            <a:r>
              <a:rPr/>
              <a:t>The “sovereign core pattern”: start with one zone, move a service set into it, then build governed interfaces to the legacy estate</a:t>
            </a:r>
          </a:p>
          <a:p>
            <a:pPr lvl="0" indent="0" marL="0">
              <a:buNone/>
            </a:pPr>
            <a:r>
              <a:rPr b="1"/>
              <a:t>Key Points — Case Study Outcomes: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Organisation</a:t>
                      </a:r>
                    </a:p>
                  </a:txBody>
                  <a:tcPr/>
                </a:tc>
                <a:tc>
                  <a:txBody>
                    <a:bodyPr/>
                    <a:lstStyle/>
                    <a:p>
                      <a:pPr lvl="0" indent="0" marL="0">
                        <a:buNone/>
                      </a:pPr>
                      <a:r>
                        <a:rPr/>
                        <a:t>MTTR Improvement</a:t>
                      </a:r>
                    </a:p>
                  </a:txBody>
                  <a:tcPr/>
                </a:tc>
                <a:tc>
                  <a:txBody>
                    <a:bodyPr/>
                    <a:lstStyle/>
                    <a:p>
                      <a:pPr lvl="0" indent="0" marL="0">
                        <a:buNone/>
                      </a:pPr>
                      <a:r>
                        <a:rPr/>
                        <a:t>Other Key Metric</a:t>
                      </a:r>
                    </a:p>
                  </a:txBody>
                  <a:tcPr/>
                </a:tc>
              </a:tr>
              <a:tr h="0">
                <a:tc>
                  <a:txBody>
                    <a:bodyPr/>
                    <a:lstStyle/>
                    <a:p>
                      <a:pPr lvl="0" indent="0" marL="0">
                        <a:buNone/>
                      </a:pPr>
                      <a:r>
                        <a:rPr/>
                        <a:t>European Financial Holdings (banking)</a:t>
                      </a:r>
                    </a:p>
                  </a:txBody>
                </a:tc>
                <a:tc>
                  <a:txBody>
                    <a:bodyPr/>
                    <a:lstStyle/>
                    <a:p>
                      <a:pPr lvl="0" indent="0" marL="0">
                        <a:buNone/>
                      </a:pPr>
                      <a:r>
                        <a:rPr/>
                        <a:t>4.2 hrs → 1.1 hrs (74%)</a:t>
                      </a:r>
                    </a:p>
                  </a:txBody>
                </a:tc>
                <a:tc>
                  <a:txBody>
                    <a:bodyPr/>
                    <a:lstStyle/>
                    <a:p>
                      <a:pPr lvl="0" indent="0" marL="0">
                        <a:buNone/>
                      </a:pPr>
                      <a:r>
                        <a:rPr/>
                        <a:t>Audit prep: 22 days → 7 days</a:t>
                      </a:r>
                    </a:p>
                  </a:txBody>
                </a:tc>
              </a:tr>
              <a:tr h="0">
                <a:tc>
                  <a:txBody>
                    <a:bodyPr/>
                    <a:lstStyle/>
                    <a:p>
                      <a:pPr lvl="0" indent="0" marL="0">
                        <a:buNone/>
                      </a:pPr>
                      <a:r>
                        <a:rPr/>
                        <a:t>Healthnet (healthcare)</a:t>
                      </a:r>
                    </a:p>
                  </a:txBody>
                </a:tc>
                <a:tc>
                  <a:txBody>
                    <a:bodyPr/>
                    <a:lstStyle/>
                    <a:p>
                      <a:pPr lvl="0" indent="0" marL="0">
                        <a:buNone/>
                      </a:pPr>
                      <a:r>
                        <a:rPr/>
                        <a:t>&gt;2 hrs → 14 min detection</a:t>
                      </a:r>
                    </a:p>
                  </a:txBody>
                </a:tc>
                <a:tc>
                  <a:txBody>
                    <a:bodyPr/>
                    <a:lstStyle/>
                    <a:p>
                      <a:pPr lvl="0" indent="0" marL="0">
                        <a:buNone/>
                      </a:pPr>
                      <a:r>
                        <a:rPr/>
                        <a:t>Discharge time: 2.4 → 1.6 days</a:t>
                      </a:r>
                    </a:p>
                  </a:txBody>
                </a:tc>
              </a:tr>
              <a:tr h="0">
                <a:tc>
                  <a:txBody>
                    <a:bodyPr/>
                    <a:lstStyle/>
                    <a:p>
                      <a:pPr lvl="0" indent="0" marL="0">
                        <a:buNone/>
                      </a:pPr>
                      <a:r>
                        <a:rPr/>
                        <a:t>Continental Assurance (insurance)</a:t>
                      </a:r>
                    </a:p>
                  </a:txBody>
                </a:tc>
                <a:tc>
                  <a:txBody>
                    <a:bodyPr/>
                    <a:lstStyle/>
                    <a:p>
                      <a:pPr lvl="0" indent="0" marL="0">
                        <a:buNone/>
                      </a:pPr>
                      <a:r>
                        <a:rPr/>
                        <a:t>3.2 hrs → 11 min detection</a:t>
                      </a:r>
                    </a:p>
                  </a:txBody>
                </a:tc>
                <a:tc>
                  <a:txBody>
                    <a:bodyPr/>
                    <a:lstStyle/>
                    <a:p>
                      <a:pPr lvl="0" indent="0" marL="0">
                        <a:buNone/>
                      </a:pPr>
                      <a:r>
                        <a:rPr/>
                        <a:t>Solvency II: 12 → 4 days</a:t>
                      </a:r>
                    </a:p>
                  </a:txBody>
                </a:tc>
              </a:tr>
              <a:tr h="0">
                <a:tc>
                  <a:txBody>
                    <a:bodyPr/>
                    <a:lstStyle/>
                    <a:p>
                      <a:pPr lvl="0" indent="0" marL="0">
                        <a:buNone/>
                      </a:pPr>
                      <a:r>
                        <a:rPr/>
                        <a:t>GovServe (government)</a:t>
                      </a:r>
                    </a:p>
                  </a:txBody>
                </a:tc>
                <a:tc>
                  <a:txBody>
                    <a:bodyPr/>
                    <a:lstStyle/>
                    <a:p>
                      <a:pPr lvl="0" indent="0" marL="0">
                        <a:buNone/>
                      </a:pPr>
                      <a:r>
                        <a:rPr/>
                        <a:t>4.3 hrs → 38 min</a:t>
                      </a:r>
                    </a:p>
                  </a:txBody>
                </a:tc>
                <a:tc>
                  <a:txBody>
                    <a:bodyPr/>
                    <a:lstStyle/>
                    <a:p>
                      <a:pPr lvl="0" indent="0" marL="0">
                        <a:buNone/>
                      </a:pPr>
                      <a:r>
                        <a:rPr/>
                        <a:t>Availability: 99.2% → 99.7%</a:t>
                      </a:r>
                    </a:p>
                  </a:txBody>
                </a:tc>
              </a:tr>
              <a:tr h="0">
                <a:tc>
                  <a:txBody>
                    <a:bodyPr/>
                    <a:lstStyle/>
                    <a:p>
                      <a:pPr lvl="0" indent="0" marL="0">
                        <a:buNone/>
                      </a:pPr>
                      <a:r>
                        <a:rPr/>
                        <a:t>NatGrid Energy (critical infrastructure)</a:t>
                      </a:r>
                    </a:p>
                  </a:txBody>
                </a:tc>
                <a:tc>
                  <a:txBody>
                    <a:bodyPr/>
                    <a:lstStyle/>
                    <a:p>
                      <a:pPr lvl="0" indent="0" marL="0">
                        <a:buNone/>
                      </a:pPr>
                      <a:r>
                        <a:rPr/>
                        <a:t>3.8 hrs → 52 min</a:t>
                      </a:r>
                    </a:p>
                  </a:txBody>
                </a:tc>
                <a:tc>
                  <a:txBody>
                    <a:bodyPr/>
                    <a:lstStyle/>
                    <a:p>
                      <a:pPr lvl="0" indent="0" marL="0">
                        <a:buNone/>
                      </a:pPr>
                      <a:r>
                        <a:rPr/>
                        <a:t>NIS2 audit prep: 50% reduction</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Speaker Notes:</a:t>
            </a:r>
          </a:p>
          <a:p>
            <a:pPr lvl="0" indent="0" marL="0">
              <a:buNone/>
            </a:pPr>
            <a:r>
              <a:rPr/>
              <a:t>The maturity model provides the framework for phased engagement with customers — use it for gap analysis (“Where are you on each dimension?”) to create a natural roadmap rather than a single large deal. The sovereign core pattern is the recommended starting strategy: rather than attempting estate-wide transformation, define a new sovereign zone with full IaC, comprehensive observability, policy-as-code enforcement, and zero-copy integration; move a carefully chosen service set into it; then build governed interfaces to the legacy estate. This limits risk and demonstrates value before scaling. The five composite case studies provide the evidence sellers need. Every case study follows the same pattern: observability first, then automation, then progressive agent autonomy. The outcomes are consistently dramatic: 74% MTTR reduction in banking, 33% reduction in time-to-discharge in healthcare, 70% coordination overhead reduction in government. These are drawn from patterns observed across real organisations, presented as composites for confidentiality.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10 — The Sovereignty Dividend</a:t>
            </a:r>
          </a:p>
          <a:p>
            <a:pPr lvl="0" indent="0" marL="0">
              <a:spcBef>
                <a:spcPts val="3000"/>
              </a:spcBef>
              <a:buNone/>
            </a:pPr>
            <a:r>
              <a:rPr b="1"/>
              <a:t>From Compliance Burden to Competitive Advantage</a:t>
            </a:r>
          </a:p>
          <a:p>
            <a:pPr lvl="0" indent="0" marL="0">
              <a:buNone/>
            </a:pPr>
            <a:r>
              <a:rPr b="1"/>
              <a:t>Key Points:</a:t>
            </a:r>
          </a:p>
          <a:p>
            <a:pPr lvl="0"/>
            <a:r>
              <a:rPr b="1"/>
              <a:t>Optionality:</a:t>
            </a:r>
            <a:r>
              <a:rPr/>
              <a:t> Genuine provider choice enabled by codified, provider-spanning control planes — not theoretical portability</a:t>
            </a:r>
          </a:p>
          <a:p>
            <a:pPr lvl="0"/>
            <a:r>
              <a:rPr b="1"/>
              <a:t>Resilience:</a:t>
            </a:r>
            <a:r>
              <a:rPr/>
              <a:t> Faster detection, diagnosis, and remediation producing reduced downtime and financial loss — 20–40% MTTR reduction (IBM IBV data)</a:t>
            </a:r>
          </a:p>
          <a:p>
            <a:pPr lvl="0"/>
            <a:r>
              <a:rPr b="1"/>
              <a:t>Speed:</a:t>
            </a:r>
            <a:r>
              <a:rPr/>
              <a:t> Compliance checking embedded in operational flow, improving all four DORA metrics simultaneously</a:t>
            </a:r>
          </a:p>
          <a:p>
            <a:pPr lvl="0"/>
            <a:r>
              <a:rPr b="1"/>
              <a:t>Cost efficiency:</a:t>
            </a:r>
            <a:r>
              <a:rPr/>
              <a:t> 5–30% infrastructure savings (Turbonomic); engineering capacity reallocated from toil to strategic work</a:t>
            </a:r>
          </a:p>
          <a:p>
            <a:pPr lvl="0"/>
            <a:r>
              <a:rPr b="1"/>
              <a:t>Regulatory confidence:</a:t>
            </a:r>
            <a:r>
              <a:rPr/>
              <a:t> Complete, auditable records demonstrating controls rather than merely describing them</a:t>
            </a:r>
          </a:p>
          <a:p>
            <a:pPr lvl="0" indent="0" marL="0">
              <a:buNone/>
            </a:pPr>
            <a:r>
              <a:rPr b="1"/>
              <a:t>The call to action:</a:t>
            </a:r>
            <a:r>
              <a:rPr/>
              <a:t> IBM is the only vendor offering a coherent, integrated stack spanning observability, automation, agentic AI, and governance across multi-cloud estates with sovereign zone awareness as a first-class concern. The market window is now — DORA is enforceable, NIS2 deadlines are approaching, the EU AI Act is phasing in, and customers are actively seeking solutions.</a:t>
            </a:r>
          </a:p>
          <a:p>
            <a:pPr lvl="0" indent="0" marL="0">
              <a:buNone/>
            </a:pPr>
            <a:r>
              <a:rPr b="1"/>
              <a:t>Speaker Notes:</a:t>
            </a:r>
          </a:p>
          <a:p>
            <a:pPr lvl="0" indent="0" marL="0">
              <a:buNone/>
            </a:pPr>
            <a:r>
              <a:rPr/>
              <a:t>Close with the sovereignty dividend — the compounding return on sovereign operations investment. This reframes the entire conversation from “compliance cost” to “competitive advantage.” The organisation that can demonstrate transparent, auditable, sovereign operations to regulators, clients, and partners operates from a position of structural strength that compounds over time. The financial case is strong: 20–40% MTTR reduction, 5–30% infrastructure spend reduction, 30–40% audit preparation effort reduction, and avoidance of penalty exposure that can reach seven figures per day. But the strategic case is even stronger: sovereignty becomes a differentiator in client conversations, a trust signal to regulators, and an operational foundation that accelerates rather than constrains innovation. IBM’s structural advantage is that no hyperscaler will build a tool that makes their competitors equally visible and manageable. This is IBM’s market to own.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This presentation is derived from</a:t>
            </a:r>
            <a:r>
              <a:rPr/>
              <a:t> Sovereign Cloud Operations </a:t>
            </a:r>
            <a:r>
              <a:rPr i="1"/>
              <a:t>by Alan Hamilton. For the full technical reference, detailed architectural patterns, and implementation guidance, refer to the main publication.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2026-03-01T22:31:16Z</dcterms:created>
  <dcterms:modified xsi:type="dcterms:W3CDTF">2026-03-01T22:31:16Z</dcterms:modified>
</cp:coreProperties>
</file>

<file path=docProps/custom.xml><?xml version="1.0" encoding="utf-8"?>
<Properties xmlns="http://schemas.openxmlformats.org/officeDocument/2006/custom-properties" xmlns:vt="http://schemas.openxmlformats.org/officeDocument/2006/docPropsVTypes"/>
</file>